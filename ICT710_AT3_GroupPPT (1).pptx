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1" r:id="rId4"/>
    <p:sldId id="260" r:id="rId5"/>
    <p:sldId id="263" r:id="rId6"/>
    <p:sldId id="262" r:id="rId7"/>
    <p:sldId id="265" r:id="rId8"/>
    <p:sldId id="264" r:id="rId9"/>
    <p:sldId id="266" r:id="rId10"/>
    <p:sldId id="268" r:id="rId11"/>
    <p:sldId id="269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7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80" y="64"/>
      </p:cViewPr>
      <p:guideLst>
        <p:guide orient="horz" pos="218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2" Type="http://schemas.openxmlformats.org/officeDocument/2006/relationships/tags" Target="../tags/tag28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00430" y="412115"/>
            <a:ext cx="7263130" cy="3837305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sz="4000" smtClean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ICT710- </a:t>
            </a:r>
            <a:r>
              <a:rPr lang="en-US" sz="4000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Interaction Design &amp; Usability</a:t>
            </a:r>
          </a:p>
          <a:p>
            <a:pPr marL="0" indent="0" algn="ctr">
              <a:buNone/>
            </a:pPr>
            <a:endParaRPr lang="en-US" sz="4000" b="1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Assessment 3: Design Report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Trading Mobile Application</a:t>
            </a:r>
          </a:p>
          <a:p>
            <a:pPr marL="0" indent="0" algn="ctr">
              <a:buNone/>
            </a:pP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98865" y="626745"/>
            <a:ext cx="2923540" cy="5173345"/>
          </a:xfrm>
          <a:prstGeom prst="roundRect">
            <a:avLst>
              <a:gd name="adj" fmla="val 11905"/>
            </a:avLst>
          </a:prstGeom>
          <a:solidFill>
            <a:srgbClr val="141C2E"/>
          </a:solidFill>
          <a:ln w="19050">
            <a:solidFill>
              <a:srgbClr val="1A73E8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sym typeface="+mn-ea"/>
              </a:rPr>
              <a:t>📈</a:t>
            </a:r>
            <a:endParaRPr lang="en-US" sz="5400"/>
          </a:p>
        </p:txBody>
      </p:sp>
      <p:sp>
        <p:nvSpPr>
          <p:cNvPr id="19" name="Text 17"/>
          <p:cNvSpPr/>
          <p:nvPr/>
        </p:nvSpPr>
        <p:spPr>
          <a:xfrm>
            <a:off x="9049385" y="237998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</a:rPr>
              <a:t>Trading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</a:rPr>
              <a:t>App UI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49385" y="3820795"/>
            <a:ext cx="2222500" cy="1266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High-Fidelity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Prototype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414145" y="4987925"/>
          <a:ext cx="6278880" cy="1379220"/>
        </p:xfrm>
        <a:graphic>
          <a:graphicData uri="http://schemas.openxmlformats.org/drawingml/2006/table">
            <a:tbl>
              <a:tblPr/>
              <a:tblGrid>
                <a:gridCol w="318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7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</a:rPr>
                        <a:t>Shradhdha Neel Diyora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</a:rPr>
                        <a:t>65430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</a:rPr>
                        <a:t>Hiren Kanubhai Italiya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</a:rPr>
                        <a:t>65564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</a:rPr>
                        <a:t>Sneh Vijaybhai Bhikadiya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</a:rPr>
                        <a:t>66186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050"/>
            <a:ext cx="6038850" cy="584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Project Overview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2"/>
          <p:cNvSpPr/>
          <p:nvPr/>
        </p:nvSpPr>
        <p:spPr>
          <a:xfrm>
            <a:off x="365760" y="1005840"/>
            <a:ext cx="6973570" cy="532511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502920" y="1417320"/>
            <a:ext cx="6367145" cy="4669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This App Does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600" b="1" dirty="0">
              <a:solidFill>
                <a:srgbClr val="1A73E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73E8"/>
                </a:solidFill>
                <a:latin typeface="Times New Roman" panose="02020603050405020304" charset="0"/>
                <a:cs typeface="Times New Roman" panose="02020603050405020304" charset="0"/>
              </a:rPr>
              <a:t>▸ </a:t>
            </a: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Search stocks &amp; cryptocurrencies
</a:t>
            </a:r>
            <a:r>
              <a:rPr lang="en-US" sz="1600" b="1" dirty="0">
                <a:solidFill>
                  <a:srgbClr val="1A73E8"/>
                </a:solidFill>
                <a:latin typeface="Times New Roman" panose="02020603050405020304" charset="0"/>
                <a:cs typeface="Times New Roman" panose="02020603050405020304" charset="0"/>
              </a:rPr>
              <a:t>▸ </a:t>
            </a: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Execute buy and sell orders
</a:t>
            </a:r>
            <a:r>
              <a:rPr lang="en-US" sz="1600" b="1" dirty="0">
                <a:solidFill>
                  <a:srgbClr val="1A73E8"/>
                </a:solidFill>
                <a:latin typeface="Times New Roman" panose="02020603050405020304" charset="0"/>
                <a:cs typeface="Times New Roman" panose="02020603050405020304" charset="0"/>
              </a:rPr>
              <a:t>▸ </a:t>
            </a: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Transfer funds between accounts
</a:t>
            </a:r>
            <a:r>
              <a:rPr lang="en-US" sz="1600" b="1" dirty="0">
                <a:solidFill>
                  <a:srgbClr val="1A73E8"/>
                </a:solidFill>
                <a:latin typeface="Times New Roman" panose="02020603050405020304" charset="0"/>
                <a:cs typeface="Times New Roman" panose="02020603050405020304" charset="0"/>
              </a:rPr>
              <a:t>▸ </a:t>
            </a: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Configure auto-trading rules
</a:t>
            </a:r>
            <a:r>
              <a:rPr lang="en-US" sz="1600" b="1" dirty="0">
                <a:solidFill>
                  <a:srgbClr val="1A73E8"/>
                </a:solidFill>
                <a:latin typeface="Times New Roman" panose="02020603050405020304" charset="0"/>
                <a:cs typeface="Times New Roman" panose="02020603050405020304" charset="0"/>
              </a:rPr>
              <a:t>▸ </a:t>
            </a: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AI-powered chatbot for real-time support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report continues from AT2 needs analysis &amp; usability testing to deliver an improved, user-centred interface design.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2"/>
          <p:cNvSpPr/>
          <p:nvPr/>
        </p:nvSpPr>
        <p:spPr>
          <a:xfrm>
            <a:off x="7508875" y="1005840"/>
            <a:ext cx="4432300" cy="532511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C4FF"/>
                </a:solidFill>
                <a:sym typeface="+mn-ea"/>
              </a:rPr>
              <a:t>Target Users</a:t>
            </a:r>
          </a:p>
          <a:p>
            <a:endParaRPr lang="en-US" dirty="0"/>
          </a:p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92085" y="1480185"/>
            <a:ext cx="386905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8920" y="1571625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70265" y="1691005"/>
            <a:ext cx="3190875" cy="702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Beginner Traders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FA3C0"/>
                </a:solidFill>
                <a:sym typeface="+mn-ea"/>
              </a:rPr>
              <a:t>Need guidance, tooltips &amp; simplified workflows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7"/>
          <p:cNvSpPr/>
          <p:nvPr/>
        </p:nvSpPr>
        <p:spPr>
          <a:xfrm>
            <a:off x="7792085" y="3044190"/>
            <a:ext cx="3869055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792085" y="4608195"/>
            <a:ext cx="3946525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70265" y="3335655"/>
            <a:ext cx="3190875" cy="695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sym typeface="+mn-ea"/>
              </a:rPr>
              <a:t>Intermediate Investors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FA3C0"/>
                </a:solidFill>
                <a:sym typeface="+mn-ea"/>
              </a:rPr>
              <a:t>Seek efficient transactions &amp; real-time market data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470265" y="4714240"/>
            <a:ext cx="3190875" cy="702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sym typeface="+mn-ea"/>
              </a:rPr>
              <a:t>Crypto Enthusiasts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FA3C0"/>
                </a:solidFill>
                <a:sym typeface="+mn-ea"/>
              </a:rPr>
              <a:t>Require crypto prices, charts &amp; auto-trading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68920" y="3089910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68920" y="4608830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₿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038850" cy="723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Usability Issues from AT2</a:t>
            </a:r>
          </a:p>
          <a:p>
            <a:pPr marL="0" indent="0">
              <a:buNone/>
            </a:pPr>
            <a:endParaRPr lang="en-US" altLang="en-US" sz="28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2"/>
          <p:cNvSpPr/>
          <p:nvPr/>
        </p:nvSpPr>
        <p:spPr>
          <a:xfrm>
            <a:off x="366395" y="794385"/>
            <a:ext cx="11503025" cy="553593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76250" y="86029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Problems that directly informed the redesign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377190" y="1253490"/>
            <a:ext cx="6600825" cy="2425065"/>
          </a:xfrm>
          <a:prstGeom prst="rect">
            <a:avLst/>
          </a:prstGeom>
          <a:solidFill>
            <a:srgbClr val="141C2E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4" name="Shape 3"/>
          <p:cNvSpPr/>
          <p:nvPr/>
        </p:nvSpPr>
        <p:spPr>
          <a:xfrm>
            <a:off x="3749675" y="1344930"/>
            <a:ext cx="1193165" cy="521335"/>
          </a:xfrm>
          <a:prstGeom prst="rect">
            <a:avLst/>
          </a:prstGeom>
          <a:solidFill>
            <a:srgbClr val="EA4335"/>
          </a:solidFill>
        </p:spPr>
        <p:txBody>
          <a:bodyPr/>
          <a:lstStyle/>
          <a:p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Text 4"/>
          <p:cNvSpPr/>
          <p:nvPr/>
        </p:nvSpPr>
        <p:spPr>
          <a:xfrm>
            <a:off x="3749675" y="1344930"/>
            <a:ext cx="1193165" cy="521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HIGH</a:t>
            </a:r>
          </a:p>
        </p:txBody>
      </p:sp>
      <p:sp>
        <p:nvSpPr>
          <p:cNvPr id="56" name="Text 5"/>
          <p:cNvSpPr/>
          <p:nvPr/>
        </p:nvSpPr>
        <p:spPr>
          <a:xfrm>
            <a:off x="476250" y="1344930"/>
            <a:ext cx="49149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Complex Navigation</a:t>
            </a:r>
          </a:p>
        </p:txBody>
      </p:sp>
      <p:sp>
        <p:nvSpPr>
          <p:cNvPr id="57" name="Text 6"/>
          <p:cNvSpPr/>
          <p:nvPr/>
        </p:nvSpPr>
        <p:spPr>
          <a:xfrm>
            <a:off x="476250" y="1710690"/>
            <a:ext cx="6179185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Users struggled to locate Auto-Trading &amp; key features</a:t>
            </a:r>
          </a:p>
        </p:txBody>
      </p:sp>
      <p:sp>
        <p:nvSpPr>
          <p:cNvPr id="58" name="Shape 7"/>
          <p:cNvSpPr/>
          <p:nvPr/>
        </p:nvSpPr>
        <p:spPr>
          <a:xfrm>
            <a:off x="366395" y="2579370"/>
            <a:ext cx="6600825" cy="2425065"/>
          </a:xfrm>
          <a:prstGeom prst="rect">
            <a:avLst/>
          </a:prstGeom>
          <a:solidFill>
            <a:srgbClr val="141C2E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9" name="Shape 8"/>
          <p:cNvSpPr/>
          <p:nvPr/>
        </p:nvSpPr>
        <p:spPr>
          <a:xfrm>
            <a:off x="3749675" y="2670810"/>
            <a:ext cx="1193165" cy="521335"/>
          </a:xfrm>
          <a:prstGeom prst="rect">
            <a:avLst/>
          </a:prstGeom>
          <a:solidFill>
            <a:srgbClr val="EA4335"/>
          </a:solidFill>
        </p:spPr>
      </p:sp>
      <p:sp>
        <p:nvSpPr>
          <p:cNvPr id="60" name="Text 9"/>
          <p:cNvSpPr/>
          <p:nvPr/>
        </p:nvSpPr>
        <p:spPr>
          <a:xfrm>
            <a:off x="3749675" y="2670810"/>
            <a:ext cx="1193165" cy="521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HIGH</a:t>
            </a:r>
          </a:p>
        </p:txBody>
      </p:sp>
      <p:sp>
        <p:nvSpPr>
          <p:cNvPr id="61" name="Text 10"/>
          <p:cNvSpPr/>
          <p:nvPr/>
        </p:nvSpPr>
        <p:spPr>
          <a:xfrm>
            <a:off x="476250" y="2670810"/>
            <a:ext cx="49149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Inconsistent Button Placement</a:t>
            </a:r>
          </a:p>
        </p:txBody>
      </p:sp>
      <p:sp>
        <p:nvSpPr>
          <p:cNvPr id="62" name="Text 11"/>
          <p:cNvSpPr/>
          <p:nvPr/>
        </p:nvSpPr>
        <p:spPr>
          <a:xfrm>
            <a:off x="476250" y="3036570"/>
            <a:ext cx="6179185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Buy/Sell buttons appeared in different positions</a:t>
            </a:r>
          </a:p>
        </p:txBody>
      </p:sp>
      <p:sp>
        <p:nvSpPr>
          <p:cNvPr id="63" name="Shape 12"/>
          <p:cNvSpPr/>
          <p:nvPr/>
        </p:nvSpPr>
        <p:spPr>
          <a:xfrm>
            <a:off x="366395" y="3905250"/>
            <a:ext cx="6600825" cy="2425065"/>
          </a:xfrm>
          <a:prstGeom prst="rect">
            <a:avLst/>
          </a:prstGeom>
          <a:solidFill>
            <a:srgbClr val="141C2E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4" name="Shape 13"/>
          <p:cNvSpPr/>
          <p:nvPr/>
        </p:nvSpPr>
        <p:spPr>
          <a:xfrm>
            <a:off x="3749675" y="3996690"/>
            <a:ext cx="1193165" cy="521335"/>
          </a:xfrm>
          <a:prstGeom prst="rect">
            <a:avLst/>
          </a:prstGeom>
          <a:solidFill>
            <a:srgbClr val="EA4335"/>
          </a:solidFill>
        </p:spPr>
      </p:sp>
      <p:sp>
        <p:nvSpPr>
          <p:cNvPr id="65" name="Text 14"/>
          <p:cNvSpPr/>
          <p:nvPr/>
        </p:nvSpPr>
        <p:spPr>
          <a:xfrm>
            <a:off x="3749675" y="3996690"/>
            <a:ext cx="1193165" cy="521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HIGH</a:t>
            </a:r>
          </a:p>
        </p:txBody>
      </p:sp>
      <p:sp>
        <p:nvSpPr>
          <p:cNvPr id="66" name="Text 15"/>
          <p:cNvSpPr/>
          <p:nvPr/>
        </p:nvSpPr>
        <p:spPr>
          <a:xfrm>
            <a:off x="476250" y="3996690"/>
            <a:ext cx="49149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Information Overload on Dashboard</a:t>
            </a:r>
          </a:p>
        </p:txBody>
      </p:sp>
      <p:sp>
        <p:nvSpPr>
          <p:cNvPr id="67" name="Text 16"/>
          <p:cNvSpPr/>
          <p:nvPr/>
        </p:nvSpPr>
        <p:spPr>
          <a:xfrm>
            <a:off x="476250" y="4362450"/>
            <a:ext cx="6179185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Excessive charts caused confusion &amp; slow decisions</a:t>
            </a:r>
          </a:p>
        </p:txBody>
      </p:sp>
      <p:sp>
        <p:nvSpPr>
          <p:cNvPr id="68" name="Shape 17"/>
          <p:cNvSpPr/>
          <p:nvPr/>
        </p:nvSpPr>
        <p:spPr>
          <a:xfrm>
            <a:off x="4846955" y="1253490"/>
            <a:ext cx="6600825" cy="2425065"/>
          </a:xfrm>
          <a:prstGeom prst="rect">
            <a:avLst/>
          </a:prstGeom>
          <a:solidFill>
            <a:srgbClr val="141C2E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9" name="Shape 18"/>
          <p:cNvSpPr/>
          <p:nvPr/>
        </p:nvSpPr>
        <p:spPr>
          <a:xfrm>
            <a:off x="8230235" y="1344930"/>
            <a:ext cx="1193165" cy="521335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70" name="Text 19"/>
          <p:cNvSpPr/>
          <p:nvPr/>
        </p:nvSpPr>
        <p:spPr>
          <a:xfrm>
            <a:off x="8230235" y="1344930"/>
            <a:ext cx="1193165" cy="521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MED</a:t>
            </a:r>
          </a:p>
        </p:txBody>
      </p:sp>
      <p:sp>
        <p:nvSpPr>
          <p:cNvPr id="71" name="Text 20"/>
          <p:cNvSpPr/>
          <p:nvPr/>
        </p:nvSpPr>
        <p:spPr>
          <a:xfrm>
            <a:off x="4956810" y="1344930"/>
            <a:ext cx="49149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Insufficient Error Feedback</a:t>
            </a:r>
          </a:p>
        </p:txBody>
      </p:sp>
      <p:sp>
        <p:nvSpPr>
          <p:cNvPr id="72" name="Text 21"/>
          <p:cNvSpPr/>
          <p:nvPr/>
        </p:nvSpPr>
        <p:spPr>
          <a:xfrm>
            <a:off x="4956810" y="1710690"/>
            <a:ext cx="6179185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Unclear messages during fund transfers frustrated users</a:t>
            </a:r>
          </a:p>
        </p:txBody>
      </p:sp>
      <p:sp>
        <p:nvSpPr>
          <p:cNvPr id="73" name="Shape 22"/>
          <p:cNvSpPr/>
          <p:nvPr/>
        </p:nvSpPr>
        <p:spPr>
          <a:xfrm>
            <a:off x="4846955" y="2579370"/>
            <a:ext cx="6600825" cy="2425065"/>
          </a:xfrm>
          <a:prstGeom prst="rect">
            <a:avLst/>
          </a:prstGeom>
          <a:solidFill>
            <a:srgbClr val="141C2E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4" name="Shape 23"/>
          <p:cNvSpPr/>
          <p:nvPr/>
        </p:nvSpPr>
        <p:spPr>
          <a:xfrm>
            <a:off x="8230235" y="2670810"/>
            <a:ext cx="1193165" cy="521335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75" name="Text 24"/>
          <p:cNvSpPr/>
          <p:nvPr/>
        </p:nvSpPr>
        <p:spPr>
          <a:xfrm>
            <a:off x="8230235" y="2670810"/>
            <a:ext cx="1193165" cy="521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MED</a:t>
            </a:r>
          </a:p>
        </p:txBody>
      </p:sp>
      <p:sp>
        <p:nvSpPr>
          <p:cNvPr id="76" name="Text 25"/>
          <p:cNvSpPr/>
          <p:nvPr/>
        </p:nvSpPr>
        <p:spPr>
          <a:xfrm>
            <a:off x="4956810" y="2670810"/>
            <a:ext cx="49149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Chatbot Limitations</a:t>
            </a:r>
          </a:p>
        </p:txBody>
      </p:sp>
      <p:sp>
        <p:nvSpPr>
          <p:cNvPr id="77" name="Text 26"/>
          <p:cNvSpPr/>
          <p:nvPr/>
        </p:nvSpPr>
        <p:spPr>
          <a:xfrm>
            <a:off x="4956810" y="3036570"/>
            <a:ext cx="6179185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Repetitive, uninformative responses reduced trust</a:t>
            </a:r>
          </a:p>
        </p:txBody>
      </p:sp>
      <p:sp>
        <p:nvSpPr>
          <p:cNvPr id="78" name="Shape 27"/>
          <p:cNvSpPr/>
          <p:nvPr/>
        </p:nvSpPr>
        <p:spPr>
          <a:xfrm>
            <a:off x="4846955" y="3905250"/>
            <a:ext cx="6600825" cy="2425065"/>
          </a:xfrm>
          <a:prstGeom prst="rect">
            <a:avLst/>
          </a:prstGeom>
          <a:solidFill>
            <a:srgbClr val="141C2E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9" name="Shape 28"/>
          <p:cNvSpPr/>
          <p:nvPr/>
        </p:nvSpPr>
        <p:spPr>
          <a:xfrm>
            <a:off x="8230235" y="3996690"/>
            <a:ext cx="1193165" cy="521335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80" name="Text 29"/>
          <p:cNvSpPr/>
          <p:nvPr/>
        </p:nvSpPr>
        <p:spPr>
          <a:xfrm>
            <a:off x="8230235" y="3996690"/>
            <a:ext cx="1193165" cy="521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MED</a:t>
            </a:r>
          </a:p>
        </p:txBody>
      </p:sp>
      <p:sp>
        <p:nvSpPr>
          <p:cNvPr id="81" name="Text 30"/>
          <p:cNvSpPr/>
          <p:nvPr/>
        </p:nvSpPr>
        <p:spPr>
          <a:xfrm>
            <a:off x="4956810" y="3996690"/>
            <a:ext cx="49149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No Beginner Onboarding</a:t>
            </a:r>
          </a:p>
        </p:txBody>
      </p:sp>
      <p:sp>
        <p:nvSpPr>
          <p:cNvPr id="82" name="Text 31"/>
          <p:cNvSpPr/>
          <p:nvPr/>
        </p:nvSpPr>
        <p:spPr>
          <a:xfrm>
            <a:off x="4956810" y="4362450"/>
            <a:ext cx="6179185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New users couldn't understand terminology or 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6395" y="842645"/>
            <a:ext cx="11215370" cy="484505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Design Process &amp; Methodology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1010" y="93268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User-Centred Design (UCD) methodology with 4 iterative phases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00810"/>
            <a:ext cx="10226040" cy="4110355"/>
          </a:xfrm>
          <a:prstGeom prst="rect">
            <a:avLst/>
          </a:prstGeom>
        </p:spPr>
      </p:pic>
      <p:sp>
        <p:nvSpPr>
          <p:cNvPr id="31" name="Text 29"/>
          <p:cNvSpPr/>
          <p:nvPr/>
        </p:nvSpPr>
        <p:spPr>
          <a:xfrm>
            <a:off x="367030" y="5603240"/>
            <a:ext cx="11625580" cy="1254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00C4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C4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</a:rPr>
              <a:t>Theoretical Framework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Norman's Design Principles (2013) 		• Nielsen's 10 Usability Heuristics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Shneiderman's Eight Golden Rules 		• ISO 9241-11 (2018)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C4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C4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038850" cy="723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Design Decisions</a:t>
            </a:r>
          </a:p>
          <a:p>
            <a:pPr marL="0" indent="0">
              <a:buNone/>
            </a:pPr>
            <a:endParaRPr lang="en-US" altLang="en-US" sz="28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2"/>
          <p:cNvSpPr/>
          <p:nvPr/>
        </p:nvSpPr>
        <p:spPr>
          <a:xfrm>
            <a:off x="366395" y="614680"/>
            <a:ext cx="11503025" cy="5715635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76250" y="795655"/>
            <a:ext cx="841248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Evidence-based decisions to address AT2 usability findings</a:t>
            </a:r>
          </a:p>
          <a:p>
            <a:pPr marL="0" indent="0">
              <a:buNone/>
            </a:pPr>
            <a:endParaRPr lang="en-US" alt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365760" y="1005840"/>
            <a:ext cx="6988810" cy="2673350"/>
          </a:xfrm>
          <a:prstGeom prst="rect">
            <a:avLst/>
          </a:prstGeom>
          <a:solidFill>
            <a:srgbClr val="141C2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365760" y="1005840"/>
            <a:ext cx="105410" cy="2673350"/>
          </a:xfrm>
          <a:prstGeom prst="rect">
            <a:avLst/>
          </a:prstGeom>
          <a:solidFill>
            <a:srgbClr val="1A73E8"/>
          </a:solidFill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530225" y="1097280"/>
            <a:ext cx="4197985" cy="37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Simplified Dashboard</a:t>
            </a:r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530225" y="1409065"/>
            <a:ext cx="4214495" cy="850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Progressive disclosure — only balance, recent activity &amp; quick-actions shown initially. Addresses cognitive overload (3/5 score).</a:t>
            </a:r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4800600" y="1005840"/>
            <a:ext cx="6988810" cy="267335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4800600" y="1005840"/>
            <a:ext cx="105410" cy="2673350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4978400" y="1005840"/>
            <a:ext cx="6613525" cy="499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Consistent Navigation</a:t>
            </a:r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4965065" y="1312545"/>
            <a:ext cx="6613525" cy="913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Persistent 5-tab bottom nav (Home, Markets, Portfolio, Alerts, Settings). All features within 2 taps.</a:t>
            </a:r>
          </a:p>
        </p:txBody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365760" y="2331720"/>
            <a:ext cx="6988810" cy="1311910"/>
          </a:xfrm>
          <a:prstGeom prst="rect">
            <a:avLst/>
          </a:prstGeom>
          <a:solidFill>
            <a:srgbClr val="141C2E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65760" y="2331720"/>
            <a:ext cx="105410" cy="267335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530225" y="2353310"/>
            <a:ext cx="4088130" cy="427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Guided Auto-Trading Wizard</a:t>
            </a:r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530225" y="2752090"/>
            <a:ext cx="4208145" cy="889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3-step wizard with DCA, Momentum &amp; Stop-Loss templates. Reduced from 3 min 20 sec to projected 1 min 50 sec.</a:t>
            </a:r>
          </a:p>
        </p:txBody>
      </p:sp>
      <p:sp>
        <p:nvSpPr>
          <p:cNvPr id="17" name="Shape 14"/>
          <p:cNvSpPr/>
          <p:nvPr>
            <p:custDataLst>
              <p:tags r:id="rId13"/>
            </p:custDataLst>
          </p:nvPr>
        </p:nvSpPr>
        <p:spPr>
          <a:xfrm>
            <a:off x="4800600" y="2331720"/>
            <a:ext cx="6988810" cy="2673350"/>
          </a:xfrm>
          <a:prstGeom prst="rect">
            <a:avLst/>
          </a:prstGeom>
          <a:solidFill>
            <a:srgbClr val="141C2E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4800600" y="2331720"/>
            <a:ext cx="105410" cy="2673350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19" name="Text 16"/>
          <p:cNvSpPr/>
          <p:nvPr>
            <p:custDataLst>
              <p:tags r:id="rId15"/>
            </p:custDataLst>
          </p:nvPr>
        </p:nvSpPr>
        <p:spPr>
          <a:xfrm>
            <a:off x="4978400" y="2359660"/>
            <a:ext cx="661352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Improved Error Handling</a:t>
            </a:r>
          </a:p>
        </p:txBody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4965065" y="2667000"/>
            <a:ext cx="6613525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All errors include: what went wrong, likely cause, suggested fix. Confirmation screen before any funds are moved.</a:t>
            </a:r>
          </a:p>
        </p:txBody>
      </p:sp>
      <p:sp>
        <p:nvSpPr>
          <p:cNvPr id="21" name="Shape 18"/>
          <p:cNvSpPr/>
          <p:nvPr>
            <p:custDataLst>
              <p:tags r:id="rId17"/>
            </p:custDataLst>
          </p:nvPr>
        </p:nvSpPr>
        <p:spPr>
          <a:xfrm>
            <a:off x="365760" y="3657600"/>
            <a:ext cx="6988175" cy="2259330"/>
          </a:xfrm>
          <a:prstGeom prst="rect">
            <a:avLst/>
          </a:prstGeom>
          <a:solidFill>
            <a:srgbClr val="141C2E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" name="Shape 19"/>
          <p:cNvSpPr/>
          <p:nvPr>
            <p:custDataLst>
              <p:tags r:id="rId18"/>
            </p:custDataLst>
          </p:nvPr>
        </p:nvSpPr>
        <p:spPr>
          <a:xfrm>
            <a:off x="365760" y="3657600"/>
            <a:ext cx="76200" cy="2270125"/>
          </a:xfrm>
          <a:prstGeom prst="rect">
            <a:avLst/>
          </a:prstGeom>
          <a:solidFill>
            <a:srgbClr val="AB47BC"/>
          </a:solidFill>
        </p:spPr>
      </p:sp>
      <p:sp>
        <p:nvSpPr>
          <p:cNvPr id="23" name="Text 20"/>
          <p:cNvSpPr/>
          <p:nvPr>
            <p:custDataLst>
              <p:tags r:id="rId19"/>
            </p:custDataLst>
          </p:nvPr>
        </p:nvSpPr>
        <p:spPr>
          <a:xfrm>
            <a:off x="530225" y="4133215"/>
            <a:ext cx="4087495" cy="232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Enhanced Chatbot</a:t>
            </a:r>
          </a:p>
        </p:txBody>
      </p:sp>
      <p:sp>
        <p:nvSpPr>
          <p:cNvPr id="24" name="Text 21"/>
          <p:cNvSpPr/>
          <p:nvPr>
            <p:custDataLst>
              <p:tags r:id="rId20"/>
            </p:custDataLst>
          </p:nvPr>
        </p:nvSpPr>
        <p:spPr>
          <a:xfrm>
            <a:off x="530225" y="4365625"/>
            <a:ext cx="4182110" cy="131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Context-aware — detects current screen. Quick-reply chips. Human-agent escalation button. Rated 3.6/5 → target 4.3/5.</a:t>
            </a:r>
          </a:p>
        </p:txBody>
      </p:sp>
      <p:sp>
        <p:nvSpPr>
          <p:cNvPr id="25" name="Shape 22"/>
          <p:cNvSpPr/>
          <p:nvPr>
            <p:custDataLst>
              <p:tags r:id="rId21"/>
            </p:custDataLst>
          </p:nvPr>
        </p:nvSpPr>
        <p:spPr>
          <a:xfrm>
            <a:off x="4800600" y="3657600"/>
            <a:ext cx="7012305" cy="225425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6" name="Shape 23"/>
          <p:cNvSpPr/>
          <p:nvPr>
            <p:custDataLst>
              <p:tags r:id="rId22"/>
            </p:custDataLst>
          </p:nvPr>
        </p:nvSpPr>
        <p:spPr>
          <a:xfrm>
            <a:off x="4800600" y="3657600"/>
            <a:ext cx="105410" cy="2217420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27" name="Text 24"/>
          <p:cNvSpPr/>
          <p:nvPr>
            <p:custDataLst>
              <p:tags r:id="rId23"/>
            </p:custDataLst>
          </p:nvPr>
        </p:nvSpPr>
        <p:spPr>
          <a:xfrm>
            <a:off x="4965065" y="3749040"/>
            <a:ext cx="6613525" cy="616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Onboarding Tour</a:t>
            </a:r>
          </a:p>
        </p:txBody>
      </p:sp>
      <p:sp>
        <p:nvSpPr>
          <p:cNvPr id="28" name="Text 25"/>
          <p:cNvSpPr/>
          <p:nvPr>
            <p:custDataLst>
              <p:tags r:id="rId24"/>
            </p:custDataLst>
          </p:nvPr>
        </p:nvSpPr>
        <p:spPr>
          <a:xfrm>
            <a:off x="4965065" y="4218940"/>
            <a:ext cx="6613525" cy="1462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Interactive first-time walkthrough with tooltips for key features and trading concepts. Critical for beginner traders.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4655" y="790575"/>
            <a:ext cx="11336655" cy="5757545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2445" y="1041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Design System </a:t>
            </a:r>
          </a:p>
        </p:txBody>
      </p:sp>
      <p:sp>
        <p:nvSpPr>
          <p:cNvPr id="5" name="Text 1"/>
          <p:cNvSpPr/>
          <p:nvPr/>
        </p:nvSpPr>
        <p:spPr>
          <a:xfrm>
            <a:off x="512445" y="946785"/>
            <a:ext cx="6405880" cy="454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Consistent visual specifications for a coherent user interface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415" y="1730375"/>
            <a:ext cx="6700520" cy="4065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35610" y="626110"/>
            <a:ext cx="11315700" cy="623189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 Key Screens Designed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2445" y="1041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Visuals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797560" y="1226820"/>
          <a:ext cx="107416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99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 altLang="en-US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1. Login Screen – Trading Mobile Application 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 alt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2. Redesigned Dashboard / Home Screen</a:t>
                      </a:r>
                      <a:r>
                        <a:rPr lang="en-US" altLang="en-US"/>
                        <a:t> 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 altLang="en-US" sz="1200"/>
                        <a:t>Figure 3. Markets Screen showing Crypto and Stocks views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  <a:p>
                      <a:pPr algn="ctr">
                        <a:buNone/>
                      </a:pPr>
                      <a:r>
                        <a:rPr lang="en-US" altLang="en-US" sz="1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4. Transaction (Buy/Sell) Screen with Review Order flow 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99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2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5. Auto-Trading Wizard – Step 1: Strategy Templates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2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6. Auto-Trading Wizard – Step 2: Set Rules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2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7. Auto-Trading Wizard – Step 3: Review &amp; Activate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2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Figure 8. AI Chatbot / Support Chat Screen </a:t>
                      </a:r>
                    </a:p>
                  </a:txBody>
                  <a:tcPr>
                    <a:gradFill>
                      <a:gsLst>
                        <a:gs pos="50000">
                          <a:schemeClr val="accent5"/>
                        </a:gs>
                        <a:gs pos="0">
                          <a:schemeClr val="accent5">
                            <a:lumMod val="25000"/>
                            <a:lumOff val="75000"/>
                          </a:schemeClr>
                        </a:gs>
                        <a:gs pos="100000">
                          <a:schemeClr val="accent5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3765" y="1388110"/>
            <a:ext cx="2322830" cy="1971040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04895" y="1388110"/>
            <a:ext cx="2500630" cy="2041525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98565" y="1388110"/>
            <a:ext cx="2417445" cy="2041525"/>
          </a:xfrm>
          <a:prstGeom prst="rect">
            <a:avLst/>
          </a:prstGeom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17635" y="1388110"/>
            <a:ext cx="2475230" cy="2148205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13765" y="4121150"/>
            <a:ext cx="2477135" cy="2028825"/>
          </a:xfrm>
          <a:prstGeom prst="rect">
            <a:avLst/>
          </a:prstGeom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604895" y="4065905"/>
            <a:ext cx="2420620" cy="208407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239510" y="4065905"/>
            <a:ext cx="2475865" cy="2019935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7635" y="4121150"/>
            <a:ext cx="2194560" cy="1906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2270" y="800100"/>
            <a:ext cx="10530840" cy="5842635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1240" y="787400"/>
            <a:ext cx="9287510" cy="339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3-step guided workflow replacing the complex original setup</a:t>
            </a:r>
          </a:p>
        </p:txBody>
      </p:sp>
      <p:sp>
        <p:nvSpPr>
          <p:cNvPr id="2" name="Shape 2"/>
          <p:cNvSpPr/>
          <p:nvPr>
            <p:custDataLst>
              <p:tags r:id="rId1"/>
            </p:custDataLst>
          </p:nvPr>
        </p:nvSpPr>
        <p:spPr>
          <a:xfrm>
            <a:off x="1031240" y="1183640"/>
            <a:ext cx="2912110" cy="4785360"/>
          </a:xfrm>
          <a:prstGeom prst="rect">
            <a:avLst/>
          </a:prstGeom>
          <a:solidFill>
            <a:srgbClr val="141C2E"/>
          </a:solidFill>
          <a:ln w="19050">
            <a:solidFill>
              <a:srgbClr val="1A73E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995045" y="1183640"/>
            <a:ext cx="2912110" cy="582930"/>
          </a:xfrm>
          <a:prstGeom prst="rect">
            <a:avLst/>
          </a:prstGeom>
          <a:solidFill>
            <a:srgbClr val="1A73E8"/>
          </a:solidFill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942975" y="1183640"/>
            <a:ext cx="2912110" cy="536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Step 1</a:t>
            </a:r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1137285" y="2806065"/>
            <a:ext cx="27178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Strategy Templates</a:t>
            </a:r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1137285" y="2452370"/>
            <a:ext cx="2717800" cy="3384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3 pre-built templates: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DCA Strategy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Momentum Trading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Stop-Loss Protection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‘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Each with plain-language description &amp; 'Use' button. Progress indicator shown at top.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3800475" y="1183640"/>
            <a:ext cx="2912110" cy="4785360"/>
          </a:xfrm>
          <a:prstGeom prst="rect">
            <a:avLst/>
          </a:prstGeom>
          <a:solidFill>
            <a:srgbClr val="141C2E"/>
          </a:solidFill>
          <a:ln w="1905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3681095" y="1191260"/>
            <a:ext cx="2912110" cy="58293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3712845" y="1242060"/>
            <a:ext cx="2912110" cy="536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Step 2</a:t>
            </a:r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3907155" y="2806065"/>
            <a:ext cx="27178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Set Rules</a:t>
            </a:r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3875405" y="2485390"/>
            <a:ext cx="2717800" cy="3384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Configure: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Asset (e.g. BTC dropdown)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Buy &amp; Sell Trigger prices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Max Amount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• Trading Interval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'?' tooltip icon on every field for contextual help.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>
            <p:custDataLst>
              <p:tags r:id="rId11"/>
            </p:custDataLst>
          </p:nvPr>
        </p:nvSpPr>
        <p:spPr>
          <a:xfrm>
            <a:off x="6570345" y="1183640"/>
            <a:ext cx="2912110" cy="4785360"/>
          </a:xfrm>
          <a:prstGeom prst="rect">
            <a:avLst/>
          </a:prstGeom>
          <a:solidFill>
            <a:srgbClr val="141C2E"/>
          </a:solidFill>
          <a:ln w="19050">
            <a:solidFill>
              <a:srgbClr val="34A8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>
            <p:custDataLst>
              <p:tags r:id="rId12"/>
            </p:custDataLst>
          </p:nvPr>
        </p:nvSpPr>
        <p:spPr>
          <a:xfrm>
            <a:off x="6570345" y="1183640"/>
            <a:ext cx="2912110" cy="582930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18" name="Text 14"/>
          <p:cNvSpPr/>
          <p:nvPr>
            <p:custDataLst>
              <p:tags r:id="rId13"/>
            </p:custDataLst>
          </p:nvPr>
        </p:nvSpPr>
        <p:spPr>
          <a:xfrm>
            <a:off x="6570345" y="1183640"/>
            <a:ext cx="2912110" cy="536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charset="0"/>
                <a:cs typeface="Times New Roman" panose="02020603050405020304" charset="0"/>
              </a:rPr>
              <a:t>Step 3</a:t>
            </a:r>
          </a:p>
        </p:txBody>
      </p:sp>
      <p:sp>
        <p:nvSpPr>
          <p:cNvPr id="21" name="Text 15"/>
          <p:cNvSpPr/>
          <p:nvPr>
            <p:custDataLst>
              <p:tags r:id="rId14"/>
            </p:custDataLst>
          </p:nvPr>
        </p:nvSpPr>
        <p:spPr>
          <a:xfrm>
            <a:off x="6676390" y="2806065"/>
            <a:ext cx="27178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Review &amp; Activate</a:t>
            </a:r>
          </a:p>
        </p:txBody>
      </p:sp>
      <p:sp>
        <p:nvSpPr>
          <p:cNvPr id="22" name="Text 16"/>
          <p:cNvSpPr/>
          <p:nvPr>
            <p:custDataLst>
              <p:tags r:id="rId15"/>
            </p:custDataLst>
          </p:nvPr>
        </p:nvSpPr>
        <p:spPr>
          <a:xfrm>
            <a:off x="6676390" y="2452370"/>
            <a:ext cx="2717800" cy="3384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Full summary in clean 2-column card. 'Activate immediately' toggle defaults ON.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Green 'Activate Auto-Trading' button provides closure.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Aligns with Shneiderman's feedback rule.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Auto-Trading Wizard</a:t>
            </a:r>
          </a:p>
        </p:txBody>
      </p:sp>
      <p:sp>
        <p:nvSpPr>
          <p:cNvPr id="24" name="Text 18"/>
          <p:cNvSpPr/>
          <p:nvPr/>
        </p:nvSpPr>
        <p:spPr>
          <a:xfrm>
            <a:off x="718820" y="6087745"/>
            <a:ext cx="9094470" cy="532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A853"/>
                </a:solidFill>
                <a:latin typeface="Times New Roman" panose="02020603050405020304" charset="0"/>
                <a:cs typeface="Times New Roman" panose="02020603050405020304" charset="0"/>
              </a:rPr>
              <a:t>⚡  Projected improvement:  60% → 85% task completion   |   3 min 20 sec → 1 min 50 sec   |   ~45% time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70180" y="800735"/>
            <a:ext cx="11612880" cy="57785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1549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Heuristic Evaluation</a:t>
            </a:r>
          </a:p>
        </p:txBody>
      </p:sp>
      <p:sp>
        <p:nvSpPr>
          <p:cNvPr id="140" name="Text 1"/>
          <p:cNvSpPr/>
          <p:nvPr/>
        </p:nvSpPr>
        <p:spPr>
          <a:xfrm>
            <a:off x="365760" y="914273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All 10 Nielsen heuristics evaluated — all resolved in redesign</a:t>
            </a:r>
          </a:p>
        </p:txBody>
      </p:sp>
      <p:pic>
        <p:nvPicPr>
          <p:cNvPr id="141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1407795"/>
            <a:ext cx="11418570" cy="5169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70180" y="800735"/>
            <a:ext cx="11612880" cy="60579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Projected Task Performance Improvements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273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Before vs. after the redesign — projected improvements based on design changes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384935" y="1632585"/>
          <a:ext cx="8488680" cy="4037965"/>
        </p:xfrm>
        <a:graphic>
          <a:graphicData uri="http://schemas.openxmlformats.org/drawingml/2006/table">
            <a:tbl>
              <a:tblPr/>
              <a:tblGrid>
                <a:gridCol w="2357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Task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Original Rate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Original Time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Projected Rate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Projected Time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62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Search Cryptocurrency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100%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35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100%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Buy Cryptocurrency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90%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 min 40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95%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55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Sell Stock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80%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 min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92%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 min 10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Transfer Funds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70%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 min 30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90%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 min 20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Setup Auto-Trading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60%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3 min 20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85%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 min 50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D6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Chatbot Interaction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90%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50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95%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FFFFFF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35 sec</a:t>
                      </a: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5791200"/>
            <a:ext cx="805815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70180" y="800735"/>
            <a:ext cx="11612880" cy="57785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Accessibility &amp; Conclusion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1034415"/>
            <a:ext cx="841248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WCAG 2.1 compliance and summary of design outcomes</a:t>
            </a:r>
          </a:p>
        </p:txBody>
      </p:sp>
      <p:sp>
        <p:nvSpPr>
          <p:cNvPr id="77" name="Text 2"/>
          <p:cNvSpPr/>
          <p:nvPr/>
        </p:nvSpPr>
        <p:spPr>
          <a:xfrm>
            <a:off x="873760" y="1769745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</a:rPr>
              <a:t>♿  Accessibility (WCAG 2.1)</a:t>
            </a:r>
          </a:p>
        </p:txBody>
      </p:sp>
      <p:sp>
        <p:nvSpPr>
          <p:cNvPr id="78" name="Shape 3"/>
          <p:cNvSpPr/>
          <p:nvPr/>
        </p:nvSpPr>
        <p:spPr>
          <a:xfrm>
            <a:off x="800735" y="2181225"/>
            <a:ext cx="4736465" cy="530225"/>
          </a:xfrm>
          <a:prstGeom prst="rect">
            <a:avLst/>
          </a:prstGeom>
          <a:solidFill>
            <a:srgbClr val="141C2E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79" name="Text 4"/>
          <p:cNvSpPr/>
          <p:nvPr/>
        </p:nvSpPr>
        <p:spPr>
          <a:xfrm>
            <a:off x="828040" y="2181225"/>
            <a:ext cx="50292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🎨</a:t>
            </a:r>
          </a:p>
        </p:txBody>
      </p:sp>
      <p:sp>
        <p:nvSpPr>
          <p:cNvPr id="80" name="Text 5"/>
          <p:cNvSpPr/>
          <p:nvPr/>
        </p:nvSpPr>
        <p:spPr>
          <a:xfrm>
            <a:off x="1879600" y="2181225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Colour contrast ≥ 4.5:1 (AA standard) for all text</a:t>
            </a:r>
          </a:p>
        </p:txBody>
      </p:sp>
      <p:sp>
        <p:nvSpPr>
          <p:cNvPr id="81" name="Shape 6"/>
          <p:cNvSpPr/>
          <p:nvPr/>
        </p:nvSpPr>
        <p:spPr>
          <a:xfrm>
            <a:off x="801370" y="2775585"/>
            <a:ext cx="4735830" cy="530225"/>
          </a:xfrm>
          <a:prstGeom prst="rect">
            <a:avLst/>
          </a:prstGeom>
          <a:solidFill>
            <a:srgbClr val="141C2E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82" name="Text 7"/>
          <p:cNvSpPr/>
          <p:nvPr/>
        </p:nvSpPr>
        <p:spPr>
          <a:xfrm>
            <a:off x="873760" y="2775585"/>
            <a:ext cx="45720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👆</a:t>
            </a:r>
          </a:p>
        </p:txBody>
      </p:sp>
      <p:sp>
        <p:nvSpPr>
          <p:cNvPr id="83" name="Text 8"/>
          <p:cNvSpPr/>
          <p:nvPr/>
        </p:nvSpPr>
        <p:spPr>
          <a:xfrm>
            <a:off x="1879600" y="2775585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Minimum 44×44pt touch targets (Apple HIG &amp; Material Design)</a:t>
            </a:r>
          </a:p>
        </p:txBody>
      </p:sp>
      <p:sp>
        <p:nvSpPr>
          <p:cNvPr id="84" name="Shape 9"/>
          <p:cNvSpPr/>
          <p:nvPr/>
        </p:nvSpPr>
        <p:spPr>
          <a:xfrm>
            <a:off x="828040" y="3369945"/>
            <a:ext cx="4709160" cy="530225"/>
          </a:xfrm>
          <a:prstGeom prst="rect">
            <a:avLst/>
          </a:prstGeom>
          <a:solidFill>
            <a:srgbClr val="141C2E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85" name="Text 10"/>
          <p:cNvSpPr/>
          <p:nvPr/>
        </p:nvSpPr>
        <p:spPr>
          <a:xfrm>
            <a:off x="919480" y="3369945"/>
            <a:ext cx="45720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🌙</a:t>
            </a:r>
          </a:p>
        </p:txBody>
      </p:sp>
      <p:sp>
        <p:nvSpPr>
          <p:cNvPr id="86" name="Text 11"/>
          <p:cNvSpPr/>
          <p:nvPr/>
        </p:nvSpPr>
        <p:spPr>
          <a:xfrm>
            <a:off x="1879600" y="3369945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Full dark mode support with maintained contrast ratios</a:t>
            </a:r>
          </a:p>
        </p:txBody>
      </p:sp>
      <p:sp>
        <p:nvSpPr>
          <p:cNvPr id="87" name="Shape 12"/>
          <p:cNvSpPr/>
          <p:nvPr/>
        </p:nvSpPr>
        <p:spPr>
          <a:xfrm>
            <a:off x="800735" y="3964305"/>
            <a:ext cx="4736465" cy="530225"/>
          </a:xfrm>
          <a:prstGeom prst="rect">
            <a:avLst/>
          </a:prstGeom>
          <a:solidFill>
            <a:srgbClr val="141C2E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88" name="Text 13"/>
          <p:cNvSpPr/>
          <p:nvPr/>
        </p:nvSpPr>
        <p:spPr>
          <a:xfrm>
            <a:off x="873760" y="3964305"/>
            <a:ext cx="45720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🔤</a:t>
            </a:r>
          </a:p>
        </p:txBody>
      </p:sp>
      <p:sp>
        <p:nvSpPr>
          <p:cNvPr id="89" name="Text 14"/>
          <p:cNvSpPr/>
          <p:nvPr/>
        </p:nvSpPr>
        <p:spPr>
          <a:xfrm>
            <a:off x="1879600" y="3964305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Adjustable text size via device accessibility settings</a:t>
            </a:r>
          </a:p>
        </p:txBody>
      </p:sp>
      <p:sp>
        <p:nvSpPr>
          <p:cNvPr id="90" name="Shape 15"/>
          <p:cNvSpPr/>
          <p:nvPr/>
        </p:nvSpPr>
        <p:spPr>
          <a:xfrm>
            <a:off x="828040" y="4558665"/>
            <a:ext cx="4709160" cy="530225"/>
          </a:xfrm>
          <a:prstGeom prst="rect">
            <a:avLst/>
          </a:prstGeom>
          <a:solidFill>
            <a:srgbClr val="141C2E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91" name="Text 16"/>
          <p:cNvSpPr/>
          <p:nvPr/>
        </p:nvSpPr>
        <p:spPr>
          <a:xfrm>
            <a:off x="918845" y="4558665"/>
            <a:ext cx="45847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🔊</a:t>
            </a:r>
          </a:p>
        </p:txBody>
      </p:sp>
      <p:sp>
        <p:nvSpPr>
          <p:cNvPr id="92" name="Text 17"/>
          <p:cNvSpPr/>
          <p:nvPr/>
        </p:nvSpPr>
        <p:spPr>
          <a:xfrm>
            <a:off x="1879600" y="4558665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All images &amp; icons include screen reader labels</a:t>
            </a:r>
          </a:p>
        </p:txBody>
      </p:sp>
      <p:sp>
        <p:nvSpPr>
          <p:cNvPr id="93" name="Text 18"/>
          <p:cNvSpPr/>
          <p:nvPr/>
        </p:nvSpPr>
        <p:spPr>
          <a:xfrm>
            <a:off x="5811520" y="1769745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4FF"/>
                </a:solidFill>
                <a:latin typeface="Times New Roman" panose="02020603050405020304" charset="0"/>
                <a:cs typeface="Times New Roman" panose="02020603050405020304" charset="0"/>
              </a:rPr>
              <a:t>📋  Key Design Outcomes</a:t>
            </a:r>
          </a:p>
        </p:txBody>
      </p:sp>
      <p:sp>
        <p:nvSpPr>
          <p:cNvPr id="94" name="Shape 19"/>
          <p:cNvSpPr/>
          <p:nvPr/>
        </p:nvSpPr>
        <p:spPr>
          <a:xfrm>
            <a:off x="5811520" y="2181225"/>
            <a:ext cx="5173980" cy="49403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5" name="Shape 20"/>
          <p:cNvSpPr/>
          <p:nvPr/>
        </p:nvSpPr>
        <p:spPr>
          <a:xfrm>
            <a:off x="5811520" y="2181225"/>
            <a:ext cx="54864" cy="493776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96" name="Text 21"/>
          <p:cNvSpPr/>
          <p:nvPr/>
        </p:nvSpPr>
        <p:spPr>
          <a:xfrm>
            <a:off x="5921375" y="2329180"/>
            <a:ext cx="5520690" cy="346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✓  Simplified progressive dashboard reduces cognitive load</a:t>
            </a:r>
          </a:p>
        </p:txBody>
      </p:sp>
      <p:sp>
        <p:nvSpPr>
          <p:cNvPr id="97" name="Shape 22"/>
          <p:cNvSpPr/>
          <p:nvPr/>
        </p:nvSpPr>
        <p:spPr>
          <a:xfrm>
            <a:off x="5811520" y="2738755"/>
            <a:ext cx="5173980" cy="49403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8" name="Shape 23"/>
          <p:cNvSpPr/>
          <p:nvPr/>
        </p:nvSpPr>
        <p:spPr>
          <a:xfrm>
            <a:off x="5811520" y="2739009"/>
            <a:ext cx="54864" cy="493776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99" name="Text 24"/>
          <p:cNvSpPr/>
          <p:nvPr/>
        </p:nvSpPr>
        <p:spPr>
          <a:xfrm>
            <a:off x="5921375" y="2813050"/>
            <a:ext cx="4926330" cy="419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✓  5-tab persistent nav — all features within 2 taps</a:t>
            </a:r>
          </a:p>
        </p:txBody>
      </p:sp>
      <p:sp>
        <p:nvSpPr>
          <p:cNvPr id="100" name="Shape 25"/>
          <p:cNvSpPr/>
          <p:nvPr/>
        </p:nvSpPr>
        <p:spPr>
          <a:xfrm>
            <a:off x="5811520" y="3296920"/>
            <a:ext cx="5173980" cy="49403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1" name="Shape 26"/>
          <p:cNvSpPr/>
          <p:nvPr/>
        </p:nvSpPr>
        <p:spPr>
          <a:xfrm>
            <a:off x="5811520" y="3296793"/>
            <a:ext cx="54864" cy="493776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102" name="Text 27"/>
          <p:cNvSpPr/>
          <p:nvPr/>
        </p:nvSpPr>
        <p:spPr>
          <a:xfrm>
            <a:off x="5921375" y="3348990"/>
            <a:ext cx="4290695" cy="441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✓  3-step Auto-Trading wizard (down from 6 steps)</a:t>
            </a:r>
          </a:p>
        </p:txBody>
      </p:sp>
      <p:sp>
        <p:nvSpPr>
          <p:cNvPr id="103" name="Shape 28"/>
          <p:cNvSpPr/>
          <p:nvPr/>
        </p:nvSpPr>
        <p:spPr>
          <a:xfrm>
            <a:off x="5811520" y="3854450"/>
            <a:ext cx="5174615" cy="49403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4" name="Shape 29"/>
          <p:cNvSpPr/>
          <p:nvPr/>
        </p:nvSpPr>
        <p:spPr>
          <a:xfrm>
            <a:off x="5811520" y="3854577"/>
            <a:ext cx="54864" cy="493776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105" name="Text 30"/>
          <p:cNvSpPr/>
          <p:nvPr/>
        </p:nvSpPr>
        <p:spPr>
          <a:xfrm>
            <a:off x="5921375" y="3907155"/>
            <a:ext cx="4512945" cy="441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✓  Actionable error messages with clear resolutions</a:t>
            </a:r>
          </a:p>
        </p:txBody>
      </p:sp>
      <p:sp>
        <p:nvSpPr>
          <p:cNvPr id="106" name="Shape 31"/>
          <p:cNvSpPr/>
          <p:nvPr/>
        </p:nvSpPr>
        <p:spPr>
          <a:xfrm>
            <a:off x="5811520" y="4412615"/>
            <a:ext cx="5173980" cy="49403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7" name="Shape 32"/>
          <p:cNvSpPr/>
          <p:nvPr/>
        </p:nvSpPr>
        <p:spPr>
          <a:xfrm>
            <a:off x="5811520" y="4412361"/>
            <a:ext cx="54864" cy="493776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108" name="Text 33"/>
          <p:cNvSpPr/>
          <p:nvPr/>
        </p:nvSpPr>
        <p:spPr>
          <a:xfrm>
            <a:off x="5921375" y="4412615"/>
            <a:ext cx="443801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✓  Context-aware chatbot with quick-reply chips</a:t>
            </a:r>
          </a:p>
        </p:txBody>
      </p:sp>
      <p:sp>
        <p:nvSpPr>
          <p:cNvPr id="109" name="Shape 34"/>
          <p:cNvSpPr/>
          <p:nvPr/>
        </p:nvSpPr>
        <p:spPr>
          <a:xfrm>
            <a:off x="5811520" y="4970145"/>
            <a:ext cx="5174615" cy="494030"/>
          </a:xfrm>
          <a:prstGeom prst="rect">
            <a:avLst/>
          </a:prstGeom>
          <a:solidFill>
            <a:srgbClr val="141C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0" name="Shape 35"/>
          <p:cNvSpPr/>
          <p:nvPr/>
        </p:nvSpPr>
        <p:spPr>
          <a:xfrm>
            <a:off x="5811520" y="4970145"/>
            <a:ext cx="54864" cy="493776"/>
          </a:xfrm>
          <a:prstGeom prst="rect">
            <a:avLst/>
          </a:prstGeom>
          <a:solidFill>
            <a:srgbClr val="34A853"/>
          </a:solidFill>
        </p:spPr>
      </p:sp>
      <p:sp>
        <p:nvSpPr>
          <p:cNvPr id="111" name="Text 36"/>
          <p:cNvSpPr/>
          <p:nvPr/>
        </p:nvSpPr>
        <p:spPr>
          <a:xfrm>
            <a:off x="5921375" y="4989195"/>
            <a:ext cx="4437380" cy="474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Times New Roman" panose="02020603050405020304" charset="0"/>
                <a:cs typeface="Times New Roman" panose="02020603050405020304" charset="0"/>
              </a:rPr>
              <a:t>✓  First-time onboarding tour for beginner traders</a:t>
            </a:r>
          </a:p>
        </p:txBody>
      </p:sp>
      <p:sp>
        <p:nvSpPr>
          <p:cNvPr id="112" name="Shape 37"/>
          <p:cNvSpPr/>
          <p:nvPr/>
        </p:nvSpPr>
        <p:spPr>
          <a:xfrm>
            <a:off x="874395" y="5747385"/>
            <a:ext cx="9337675" cy="595630"/>
          </a:xfrm>
          <a:prstGeom prst="rect">
            <a:avLst/>
          </a:prstGeom>
          <a:solidFill>
            <a:srgbClr val="141C2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38"/>
          <p:cNvSpPr/>
          <p:nvPr/>
        </p:nvSpPr>
        <p:spPr>
          <a:xfrm>
            <a:off x="1468120" y="5747385"/>
            <a:ext cx="8229600" cy="49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A3C0"/>
                </a:solidFill>
                <a:latin typeface="Times New Roman" panose="02020603050405020304" charset="0"/>
                <a:cs typeface="Times New Roman" panose="02020603050405020304" charset="0"/>
              </a:rPr>
              <a:t>Future Work:  Formal usability testing (n=30+)  ·  A/B testing of dashboard variants  ·  Longitudinal studies  ·  AI chatbot with live market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0485" y="981075"/>
            <a:ext cx="11925300" cy="5374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[1]D. Norman, The Design of Everyday Things, Revised and Expanded Edition. New York, USA: Basic Books, 2013. [Online]. Available: https://www.basicbooks.com/titles/don-norman/the-design-of-everyday-things/9780465050659/</a:t>
            </a: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[2]J. Nielsen, "Usability 101: Introduction to Usability," Nielsen Norman Group, 2012. [Online]. Available: https://www.nngroup.com/articles/usability-101-introduction-to-usability/</a:t>
            </a: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[3]B. Shneiderman, C. Plaisant, M. Cohen, S. Jacobs, N. Elmqvist and N. Diakopoulos, Designing the User Interface: Strategies for Effective Human-Computer Interaction, 6th ed. Pearson, 2016. https://www.pearson.com/en-us/subject-catalog/p/designing-the-user-interface/P200000003054</a:t>
            </a: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[4]A. Dix, J. Finlay, G. Abowd and R. Beale, Human-Computer Interaction, 3rd ed. Pearson Education, 2004. https://www.pearson.com/en-gb/subject-catalog/p/human-computer-interaction/P200000005000</a:t>
            </a: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[5]ISO 9241-11, Ergonomics of Human-System Interaction – Usability: Definitions and Concepts, International Organization for Standardization, 2018. [Online]. Available: https://www.iso.org/standard/63500.html</a:t>
            </a: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[6]W3C, "Web Content Accessibility Guidelines (WCAG) 2.1," World Wide Web Consortium, 2018. [Online]. Available: https://www.w3.org/TR/WCAG21/</a:t>
            </a: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[7]J. Garrett, The Elements of User Experience: User-Centered Design for the Web and Beyond, 2nd ed. New Riders, 2011. https://www.newriders.com/9780321683687</a:t>
            </a: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0485" y="981075"/>
            <a:ext cx="11925300" cy="5374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7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endParaRPr lang="en-US" altLang="en-US" sz="4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 sz="4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 sz="4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4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4*108"/>
  <p:tag name="TABLE_ENDDRAG_RECT" val="111*392*494*1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.4,&quot;left&quot;:28.8,&quot;top&quot;:79.2,&quot;width&quot;:6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5*424"/>
  <p:tag name="TABLE_ENDDRAG_RECT" val="62*102*845*4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5,&quot;left&quot;:28.8,&quot;top&quot;:79.2,&quot;width&quot;:666.9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8*317"/>
  <p:tag name="TABLE_ENDDRAG_RECT" val="109*128*668*31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PresentationFormat>Widescreen</PresentationFormat>
  <Paragraphs>259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Hiren Italiya</cp:lastModifiedBy>
  <cp:revision>12</cp:revision>
  <dcterms:created xsi:type="dcterms:W3CDTF">2025-07-23T00:59:00Z</dcterms:created>
  <dcterms:modified xsi:type="dcterms:W3CDTF">2026-05-27T06:05:55Z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907AE41443714720AEB29C4DFA775CFE_11</vt:lpwstr>
  </property>
  <property fmtid="{D5CDD505-2E9C-101B-9397-08002B2CF9AE}" pid="3" name="KSOProductBuildVer">
    <vt:lpwstr>1033-12.2.0.23197</vt:lpwstr>
  </property>
</Properties>
</file>